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20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8DDC8-3161-47FD-8550-906B82F92B8F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86749-259E-4E18-B2E4-8398011C32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5444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3A048-02ED-4910-8428-FFAA08FF7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1006349-5B66-4730-AC6E-213572790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0C907B-29E6-4ECA-A866-FD525DE6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5279-0B5A-402E-A1AF-495BE2E7270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3F1140-E771-4B6F-BF6A-7354F68F1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AED48B-CA33-4389-987A-9B13F715A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F373-DBCB-4FA6-8B83-873459F89E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57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66F92-4F7C-4ACA-AF1E-B8C95BA06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BF8794-473D-437A-A545-BA77346FC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901950-BDC3-49EB-99E1-B3C192B9A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5279-0B5A-402E-A1AF-495BE2E7270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5DD6EF-29E7-44A2-8DBC-46441BB21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DF8862-9DB5-473E-BC6F-0434E18EF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F373-DBCB-4FA6-8B83-873459F89E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26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9D6BC-F097-4EAC-B01F-368AE9BAB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35A804-FF5B-4BF4-8393-B286827DD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3D8075-F2E9-4742-AAAD-F05FDD37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5279-0B5A-402E-A1AF-495BE2E7270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57684C-C39D-4266-BF09-D21BFA59A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E1521B-B2D2-40E8-B721-20B584CF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F373-DBCB-4FA6-8B83-873459F89E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8377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E5C52A-991B-4CA4-AD8F-59D66115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F63F09-C474-49E2-ADDC-CD32D07E8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BE0522-44BC-4C9D-89BC-F5B45444E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EB2DD5-6B58-4F5C-9C10-7AC71D9B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5279-0B5A-402E-A1AF-495BE2E7270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491A79-BA55-4456-92D5-3BAF7CB96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EDA520-5B88-41A8-B976-0AB4BA93D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F373-DBCB-4FA6-8B83-873459F89E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70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F63DCE-295D-456D-A0DB-31F86846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A6A6CB-B56D-44A5-9D6D-2FB4831C2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1EA2DF-BD48-45CA-BD35-C62755C18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3B025A3-0E01-48F2-8DE7-1864F1CCB6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8171BA3-FE0F-4A42-9BDB-FF7BFEBD3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3A953D8-38D8-4080-919E-369496DD8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5279-0B5A-402E-A1AF-495BE2E7270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581B8B2-2017-4E0F-9A2A-96B8A4328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5C64550-8553-40C8-A5C5-0F9385946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F373-DBCB-4FA6-8B83-873459F89E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028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93163-33A2-4AD7-89BC-FDFD11B53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031B19B-FE40-4DF1-9160-D53078E9F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5279-0B5A-402E-A1AF-495BE2E7270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4EBEF3F-5850-4825-8059-353E702C6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1CA8619-B3E2-4017-B1F5-59E5BCE63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F373-DBCB-4FA6-8B83-873459F89E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12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39FA0FF-0C41-47B0-8400-7BE13C7F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5279-0B5A-402E-A1AF-495BE2E7270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DC7C218-C292-420E-96F7-4E76E10FA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D33AFB-3F8E-47D6-B411-B4D43A177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F373-DBCB-4FA6-8B83-873459F89E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36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905FE-98C7-438E-9312-9CF85A3BA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9D1705-9CD6-4A78-8881-B9D307EE1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DEABEE8-C71F-4F9A-8688-ADC8F12FA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33F177-CC24-4CA1-B668-5FC4CA212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5279-0B5A-402E-A1AF-495BE2E7270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3DB3A4-DBBC-42BD-B648-EFE038182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E609D1-A985-4151-B50E-123B3654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F373-DBCB-4FA6-8B83-873459F89E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83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7F034A-0698-4DC7-9AD6-BFBA7092B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751F192-18F0-4798-BE6E-DDA9A0975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DC68A1-E7FC-4218-9CDF-E074A74C6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E16DD1-AF46-401E-A0B5-E863A9A01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5279-0B5A-402E-A1AF-495BE2E7270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278905-7460-4CF1-A8C2-9DE64DC04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C7B827-A282-4B5A-AB91-9C38A8697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F373-DBCB-4FA6-8B83-873459F89E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14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F0328-6C17-4E6D-9D68-AAB0F2E3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A32628-76CB-48F1-B4BA-0123720E9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866C80-7189-4143-9EED-0FB21E52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5279-0B5A-402E-A1AF-495BE2E7270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20BAA9-CF61-4AF6-BDB6-76BF1E736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26A5C6-A02D-4DC1-A51A-C93EDF1D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F373-DBCB-4FA6-8B83-873459F89E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717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AFC345B-009F-45C4-B2B7-8F95DF140A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27257C6-3ED5-497E-A119-CE0A2B3C1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089DF6-34D9-4C30-A951-38043DD63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5279-0B5A-402E-A1AF-495BE2E7270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C6EBD0-3FD0-488E-A95F-F002E224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7DFB5A-5DA3-4A7B-BF28-889160A8D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F373-DBCB-4FA6-8B83-873459F89E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306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8B4ABA-EC95-4966-B585-C2EEC84AA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D141E4-011B-49DC-8E4D-8460C2878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AA70C0-C315-4F69-A160-E4516AEB0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65279-0B5A-402E-A1AF-495BE2E72703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54DCE3-F46E-46E4-AFE5-5A568D193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E0C227-2841-423E-BC2F-FE03AA38C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7F373-DBCB-4FA6-8B83-873459F89E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25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8EACE3-548E-4C5B-81D9-56E131ACF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017" y="1409351"/>
            <a:ext cx="9308983" cy="3961700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 к курсовой работе на тему </a:t>
            </a: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«Проектирование и реализация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интерфейса сайта образовательного учреждения»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Учебная организация: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АНО ПО МКИТ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работы:</a:t>
            </a:r>
            <a:b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Алексеев Владислав Дмитриевич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9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ИС-323 Черников Иван Валерьевич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AB059C-254F-4CE2-B66C-CBF517DDB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96792"/>
            <a:ext cx="9144000" cy="536895"/>
          </a:xfrm>
        </p:spPr>
        <p:txBody>
          <a:bodyPr>
            <a:norm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2026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27CF931A-5835-47ED-8642-7FEDE824C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450" y="77598"/>
            <a:ext cx="2274116" cy="140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529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F1D9E-AB59-42B7-ABD8-DE2BB4C8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70452"/>
            <a:ext cx="10515600" cy="704675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 цель работы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6F030F-E395-4AAE-82D1-E919E9929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702965"/>
            <a:ext cx="10515600" cy="4386685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заключается в цифровизации и конкуренции, которые требуют современного сайта для автоматизации учебных процессов</a:t>
            </a:r>
          </a:p>
          <a:p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 разработка удобного, безопасного веб-интерфейса для всех категорий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3515811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F1D9E-AB59-42B7-ABD8-DE2BB4C8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70452"/>
            <a:ext cx="10515600" cy="704675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Состояние вопроса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6F030F-E395-4AAE-82D1-E919E9929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04219"/>
            <a:ext cx="9595666" cy="2197159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сайтов учебных заведений выявил критические недостатки:</a:t>
            </a:r>
          </a:p>
          <a:p>
            <a:pPr marL="742950" indent="-742950"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Перегруженность интерфейса текстом</a:t>
            </a:r>
          </a:p>
          <a:p>
            <a:pPr marL="742950" indent="-742950"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удобного поиска и фильтров</a:t>
            </a:r>
          </a:p>
          <a:p>
            <a:pPr marL="742950" indent="-742950"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Низкая производительность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A16231-D28A-41C9-8696-661DA2ACA616}"/>
              </a:ext>
            </a:extLst>
          </p:cNvPr>
          <p:cNvPicPr/>
          <p:nvPr/>
        </p:nvPicPr>
        <p:blipFill rotWithShape="1">
          <a:blip r:embed="rId2"/>
          <a:srcRect l="1164" t="7819" r="1162" b="4104"/>
          <a:stretch/>
        </p:blipFill>
        <p:spPr bwMode="auto">
          <a:xfrm>
            <a:off x="295275" y="1191237"/>
            <a:ext cx="5800725" cy="29419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28E20B4-6106-459A-BE8E-2AF0429D611B}"/>
              </a:ext>
            </a:extLst>
          </p:cNvPr>
          <p:cNvPicPr/>
          <p:nvPr/>
        </p:nvPicPr>
        <p:blipFill rotWithShape="1">
          <a:blip r:embed="rId3"/>
          <a:srcRect t="7588" b="4322"/>
          <a:stretch/>
        </p:blipFill>
        <p:spPr bwMode="auto">
          <a:xfrm>
            <a:off x="6627050" y="1232865"/>
            <a:ext cx="5256975" cy="29425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49707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560F76-5836-43CF-86F6-1761D29B6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353" y="-2885813"/>
            <a:ext cx="10515600" cy="4068661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технологии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D602EC-0B62-4C30-A306-8488E2D69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526797"/>
            <a:ext cx="10515600" cy="4562854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серверной части: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Celery, Redis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клиентской части: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ReactJS, HTML, CSS, JS,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базы данных: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деплоя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проекта: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docker, docker-compose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управлением версиями проекта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git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FEFB0E-B5E4-4E5A-859E-43ADA0B34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852" y="5331203"/>
            <a:ext cx="1333195" cy="133319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20E55F-697E-4E9F-A157-E4F951604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603" y="635783"/>
            <a:ext cx="1862145" cy="18621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D3B48E1-DD4B-419F-867B-E0ED7A35C5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60" y="3977415"/>
            <a:ext cx="1508986" cy="150898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71CE3E1-EDC5-4DB2-A284-CB894CE087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099" y="2796620"/>
            <a:ext cx="1180795" cy="118079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1D96C90-BDC7-4164-9B04-EB14334051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014" y="4629734"/>
            <a:ext cx="1368066" cy="136806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879B511-FA9C-4F4A-B376-FCD832BB1E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434" y="2631952"/>
            <a:ext cx="1368066" cy="136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7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BF5641-8E16-4220-BABE-249F5274F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09" y="234892"/>
            <a:ext cx="10515600" cy="93956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FC10D3-6877-4C4E-9C5E-3A6036953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00" dirty="0">
                <a:solidFill>
                  <a:schemeClr val="bg1"/>
                </a:solidFill>
              </a:rPr>
              <a:t>.</a:t>
            </a:r>
            <a:endParaRPr lang="ru-RU" sz="100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8CDECDE-7FF7-DB08-2C5A-E32E02F01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554" y="1123927"/>
            <a:ext cx="6663765" cy="49880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36EB5-F0F6-F98F-871A-FF0D28CB35A4}"/>
              </a:ext>
            </a:extLst>
          </p:cNvPr>
          <p:cNvSpPr txBox="1"/>
          <p:nvPr/>
        </p:nvSpPr>
        <p:spPr>
          <a:xfrm>
            <a:off x="4551680" y="6111970"/>
            <a:ext cx="464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 базы данных из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PGAdmin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834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BF5641-8E16-4220-BABE-249F5274F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09" y="234892"/>
            <a:ext cx="10515600" cy="93956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FC10D3-6877-4C4E-9C5E-3A6036953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386221-8359-4872-83B4-8324F92120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41" t="32416" r="48830" b="21713"/>
          <a:stretch/>
        </p:blipFill>
        <p:spPr>
          <a:xfrm>
            <a:off x="3275144" y="1174459"/>
            <a:ext cx="5629012" cy="45921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EC7E52-3A2E-41B9-81F1-2E9760FAD4B7}"/>
              </a:ext>
            </a:extLst>
          </p:cNvPr>
          <p:cNvSpPr txBox="1"/>
          <p:nvPr/>
        </p:nvSpPr>
        <p:spPr>
          <a:xfrm>
            <a:off x="2924175" y="5720318"/>
            <a:ext cx="671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сервиса, отвечающего за пользовательские бизнес-процессы</a:t>
            </a:r>
          </a:p>
        </p:txBody>
      </p:sp>
    </p:spTree>
    <p:extLst>
      <p:ext uri="{BB962C8B-B14F-4D97-AF65-F5344CB8AC3E}">
        <p14:creationId xmlns:p14="http://schemas.microsoft.com/office/powerpoint/2010/main" val="154970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BF5641-8E16-4220-BABE-249F5274F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09" y="234892"/>
            <a:ext cx="10515600" cy="93956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FC10D3-6877-4C4E-9C5E-3A6036953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D5C617-CD96-4062-AC9A-8F55F69BDB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48" t="32293" r="50000" b="25015"/>
          <a:stretch/>
        </p:blipFill>
        <p:spPr>
          <a:xfrm>
            <a:off x="3171679" y="1174459"/>
            <a:ext cx="6039433" cy="47939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420F1E-CB20-4E9E-A5FF-268DA063FF9D}"/>
              </a:ext>
            </a:extLst>
          </p:cNvPr>
          <p:cNvSpPr txBox="1"/>
          <p:nvPr/>
        </p:nvSpPr>
        <p:spPr>
          <a:xfrm>
            <a:off x="3829050" y="5968457"/>
            <a:ext cx="585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обработчика клиентских запросов на сервер</a:t>
            </a:r>
          </a:p>
        </p:txBody>
      </p:sp>
    </p:spTree>
    <p:extLst>
      <p:ext uri="{BB962C8B-B14F-4D97-AF65-F5344CB8AC3E}">
        <p14:creationId xmlns:p14="http://schemas.microsoft.com/office/powerpoint/2010/main" val="2708462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BF5641-8E16-4220-BABE-249F5274F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09" y="234892"/>
            <a:ext cx="10515600" cy="93956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FC10D3-6877-4C4E-9C5E-3A6036953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61304F-F2B7-409D-B6DF-BF6436FAD8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07" t="33079" r="50000" b="18410"/>
          <a:stretch/>
        </p:blipFill>
        <p:spPr>
          <a:xfrm>
            <a:off x="3036814" y="1174459"/>
            <a:ext cx="6241409" cy="5054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A8DC31-5358-45D3-AF25-C4B52720B448}"/>
              </a:ext>
            </a:extLst>
          </p:cNvPr>
          <p:cNvSpPr txBox="1"/>
          <p:nvPr/>
        </p:nvSpPr>
        <p:spPr>
          <a:xfrm>
            <a:off x="3448050" y="6229384"/>
            <a:ext cx="67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Код, обрабатывающий задачу отправки письма на фоне</a:t>
            </a:r>
          </a:p>
        </p:txBody>
      </p:sp>
    </p:spTree>
    <p:extLst>
      <p:ext uri="{BB962C8B-B14F-4D97-AF65-F5344CB8AC3E}">
        <p14:creationId xmlns:p14="http://schemas.microsoft.com/office/powerpoint/2010/main" val="1502580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BF5641-8E16-4220-BABE-249F5274F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09" y="234892"/>
            <a:ext cx="10515600" cy="93956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FC10D3-6877-4C4E-9C5E-3A6036953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5A27C1-2E5A-4533-9C76-7AB9614F0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76" t="33079" r="50000" b="27217"/>
          <a:stretch/>
        </p:blipFill>
        <p:spPr>
          <a:xfrm>
            <a:off x="2558205" y="1437269"/>
            <a:ext cx="7062889" cy="4691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25FA0E-2A0F-4914-8E92-092EFB457B56}"/>
              </a:ext>
            </a:extLst>
          </p:cNvPr>
          <p:cNvSpPr txBox="1"/>
          <p:nvPr/>
        </p:nvSpPr>
        <p:spPr>
          <a:xfrm>
            <a:off x="2333625" y="6115050"/>
            <a:ext cx="7718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пользовательского сервиса, с которым будет взаимодействовать клиент</a:t>
            </a:r>
          </a:p>
        </p:txBody>
      </p:sp>
    </p:spTree>
    <p:extLst>
      <p:ext uri="{BB962C8B-B14F-4D97-AF65-F5344CB8AC3E}">
        <p14:creationId xmlns:p14="http://schemas.microsoft.com/office/powerpoint/2010/main" val="2828498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BF5641-8E16-4220-BABE-249F5274F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09" y="234892"/>
            <a:ext cx="10515600" cy="93956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FC10D3-6877-4C4E-9C5E-3A6036953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4AA62C-3CF2-4CCF-8E61-073968B80D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48" t="20184" r="55757" b="28440"/>
          <a:stretch/>
        </p:blipFill>
        <p:spPr>
          <a:xfrm>
            <a:off x="679507" y="1409687"/>
            <a:ext cx="4798503" cy="433413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5652EA-8542-479B-B13E-F09232962F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110" t="17125" r="43302" b="8013"/>
          <a:stretch/>
        </p:blipFill>
        <p:spPr>
          <a:xfrm>
            <a:off x="5914239" y="1174459"/>
            <a:ext cx="5889072" cy="55619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4124D5-53FF-476E-B195-74BD19D0AF41}"/>
              </a:ext>
            </a:extLst>
          </p:cNvPr>
          <p:cNvSpPr txBox="1"/>
          <p:nvPr/>
        </p:nvSpPr>
        <p:spPr>
          <a:xfrm>
            <a:off x="1476376" y="5743820"/>
            <a:ext cx="3144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обработки формы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363C82-C08F-4763-9A33-39A04AB836FF}"/>
              </a:ext>
            </a:extLst>
          </p:cNvPr>
          <p:cNvSpPr txBox="1"/>
          <p:nvPr/>
        </p:nvSpPr>
        <p:spPr>
          <a:xfrm>
            <a:off x="7629525" y="5979048"/>
            <a:ext cx="4007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с разметкой формы на сайте</a:t>
            </a:r>
          </a:p>
        </p:txBody>
      </p:sp>
    </p:spTree>
    <p:extLst>
      <p:ext uri="{BB962C8B-B14F-4D97-AF65-F5344CB8AC3E}">
        <p14:creationId xmlns:p14="http://schemas.microsoft.com/office/powerpoint/2010/main" val="3760590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BF5641-8E16-4220-BABE-249F5274F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09" y="234892"/>
            <a:ext cx="10515600" cy="93956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FC10D3-6877-4C4E-9C5E-3A6036953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5DB819-D00F-4164-ACE0-C3F4A614DB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50" t="7592" r="15104" b="5000"/>
          <a:stretch/>
        </p:blipFill>
        <p:spPr>
          <a:xfrm>
            <a:off x="2566842" y="1392772"/>
            <a:ext cx="7058316" cy="4877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4D0348-8F03-460C-A23C-766FD5DD5D63}"/>
              </a:ext>
            </a:extLst>
          </p:cNvPr>
          <p:cNvSpPr txBox="1"/>
          <p:nvPr/>
        </p:nvSpPr>
        <p:spPr>
          <a:xfrm>
            <a:off x="3457575" y="6270553"/>
            <a:ext cx="772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сайта с формой для записи на консультацию</a:t>
            </a:r>
          </a:p>
        </p:txBody>
      </p:sp>
    </p:spTree>
    <p:extLst>
      <p:ext uri="{BB962C8B-B14F-4D97-AF65-F5344CB8AC3E}">
        <p14:creationId xmlns:p14="http://schemas.microsoft.com/office/powerpoint/2010/main" val="3618335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BF5641-8E16-4220-BABE-249F5274F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09" y="234892"/>
            <a:ext cx="10515600" cy="93956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веб-приложения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FC10D3-6877-4C4E-9C5E-3A6036953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149D49-7319-44AB-9037-FD82C9DF2966}"/>
              </a:ext>
            </a:extLst>
          </p:cNvPr>
          <p:cNvSpPr txBox="1"/>
          <p:nvPr/>
        </p:nvSpPr>
        <p:spPr>
          <a:xfrm>
            <a:off x="831851" y="1485900"/>
            <a:ext cx="110934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проверки работоспособности веб-приложения было сделано:</a:t>
            </a:r>
          </a:p>
          <a:p>
            <a:pPr marL="342900" indent="-342900"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Кросс-платформенное тестирование</a:t>
            </a:r>
          </a:p>
          <a:p>
            <a:pPr marL="342900" indent="-342900"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Модульное тестирование</a:t>
            </a:r>
          </a:p>
          <a:p>
            <a:pPr marL="342900" indent="-342900"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Системное тестирование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DDFEC82-44DD-48A3-BA87-536CFF9CBC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79" t="14445" r="54062" b="5694"/>
          <a:stretch/>
        </p:blipFill>
        <p:spPr>
          <a:xfrm>
            <a:off x="7820025" y="1933575"/>
            <a:ext cx="2114550" cy="45538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7090803-B5E7-45FC-B744-FBB702144CEB}"/>
              </a:ext>
            </a:extLst>
          </p:cNvPr>
          <p:cNvSpPr txBox="1"/>
          <p:nvPr/>
        </p:nvSpPr>
        <p:spPr>
          <a:xfrm>
            <a:off x="6715125" y="6457950"/>
            <a:ext cx="5368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формы сайта с мобильного устройства</a:t>
            </a:r>
          </a:p>
        </p:txBody>
      </p:sp>
    </p:spTree>
    <p:extLst>
      <p:ext uri="{BB962C8B-B14F-4D97-AF65-F5344CB8AC3E}">
        <p14:creationId xmlns:p14="http://schemas.microsoft.com/office/powerpoint/2010/main" val="4154370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BF5641-8E16-4220-BABE-249F5274F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09" y="234892"/>
            <a:ext cx="10515600" cy="93956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FC10D3-6877-4C4E-9C5E-3A6036953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8524874" y="6089650"/>
            <a:ext cx="2822575" cy="82550"/>
          </a:xfrm>
        </p:spPr>
        <p:txBody>
          <a:bodyPr>
            <a:normAutofit fontScale="25000" lnSpcReduction="20000"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149D49-7319-44AB-9037-FD82C9DF2966}"/>
              </a:ext>
            </a:extLst>
          </p:cNvPr>
          <p:cNvSpPr txBox="1"/>
          <p:nvPr/>
        </p:nvSpPr>
        <p:spPr>
          <a:xfrm>
            <a:off x="831851" y="1485900"/>
            <a:ext cx="110934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данной курсовой работы, мною было спроектировано и разработано веб-приложение сайта образовательного учреждения, которое может являться достойным проектом в портфолио и демонстрирует мои профессиональные компетенции. Проект получился современным, функциональным и готовым к масштабированию. 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BC6828-3AAA-4D8B-BD5E-6D6FBC601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971" y="4422829"/>
            <a:ext cx="1898541" cy="18985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59EA67-8F06-4F36-8D49-093E4E2132F3}"/>
              </a:ext>
            </a:extLst>
          </p:cNvPr>
          <p:cNvSpPr txBox="1"/>
          <p:nvPr/>
        </p:nvSpPr>
        <p:spPr>
          <a:xfrm>
            <a:off x="5713009" y="475727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Сайт: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DFEAC3-6637-43EE-AEC2-6821DCA4E97F}"/>
              </a:ext>
            </a:extLst>
          </p:cNvPr>
          <p:cNvSpPr txBox="1"/>
          <p:nvPr/>
        </p:nvSpPr>
        <p:spPr>
          <a:xfrm>
            <a:off x="939509" y="4772025"/>
            <a:ext cx="2539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Репозиторий на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D754E92-AF83-411B-BE3F-A09D007F0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704" y="4422829"/>
            <a:ext cx="1802133" cy="180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970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290</Words>
  <Application>Microsoft Macintosh PowerPoint</Application>
  <PresentationFormat>Широкоэкранный</PresentationFormat>
  <Paragraphs>50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Тема Office</vt:lpstr>
      <vt:lpstr>Презентация к курсовой работе на тему  «Проектирование и реализация web-интерфейса сайта образовательного учреждения» Учебная организация: АНО ПО МКИТ Руководитель работы: Алексеев Владислав Дмитриевич Выполнил: Студент группы 9/1 ИС-323 Черников Иван Валерьевич</vt:lpstr>
      <vt:lpstr>Актуальность и цель работы</vt:lpstr>
      <vt:lpstr>Состояние вопроса</vt:lpstr>
      <vt:lpstr>Используемые технологии</vt:lpstr>
      <vt:lpstr>Разработка веб-приложения</vt:lpstr>
      <vt:lpstr>Разработка веб-приложения</vt:lpstr>
      <vt:lpstr>Разработка веб-приложения</vt:lpstr>
      <vt:lpstr>Разработка веб-приложения</vt:lpstr>
      <vt:lpstr>Разработка веб-приложения</vt:lpstr>
      <vt:lpstr>Разработка веб-приложения</vt:lpstr>
      <vt:lpstr>Разработка веб-приложения</vt:lpstr>
      <vt:lpstr>Тестирование веб-приложения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к курсовой работе на тему  «Проектирование и реализация web-интерфейса сайта образовательного учреждения» Учебная организация: АНО ПО МКИТ Руководитель работы: Алексеев Владислав Дмитриевич Выполнил: Студент группы 9/1 ИС-323 Черников Иван Валерьевич</dc:title>
  <dc:creator>Черников Иван Валерьевич</dc:creator>
  <cp:lastModifiedBy>Microsoft Office User</cp:lastModifiedBy>
  <cp:revision>11</cp:revision>
  <dcterms:created xsi:type="dcterms:W3CDTF">2026-05-14T08:57:17Z</dcterms:created>
  <dcterms:modified xsi:type="dcterms:W3CDTF">2026-05-14T14:17:57Z</dcterms:modified>
</cp:coreProperties>
</file>